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32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Jun Jang" userId="8e5af0c259678f90" providerId="LiveId" clId="{12CD7FFF-ABCE-4973-A386-AD2E68529F80}"/>
    <pc:docChg chg="modSld">
      <pc:chgData name="InJun Jang" userId="8e5af0c259678f90" providerId="LiveId" clId="{12CD7FFF-ABCE-4973-A386-AD2E68529F80}" dt="2026-06-10T23:39:59.257" v="0" actId="14100"/>
      <pc:docMkLst>
        <pc:docMk/>
      </pc:docMkLst>
      <pc:sldChg chg="modSp mod">
        <pc:chgData name="InJun Jang" userId="8e5af0c259678f90" providerId="LiveId" clId="{12CD7FFF-ABCE-4973-A386-AD2E68529F80}" dt="2026-06-10T23:39:59.257" v="0" actId="14100"/>
        <pc:sldMkLst>
          <pc:docMk/>
          <pc:sldMk cId="0" sldId="257"/>
        </pc:sldMkLst>
        <pc:spChg chg="mod">
          <ac:chgData name="InJun Jang" userId="8e5af0c259678f90" providerId="LiveId" clId="{12CD7FFF-ABCE-4973-A386-AD2E68529F80}" dt="2026-06-10T23:39:59.257" v="0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InJun Jang" userId="8e5af0c259678f90" providerId="LiveId" clId="{12CD7FFF-ABCE-4973-A386-AD2E68529F80}" dt="2026-06-10T23:39:59.257" v="0" actId="14100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3036E-A2C1-47A7-B8F6-83500C31D9FA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6DBBD-8734-4C9A-ADCC-CCC5DC3AFF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646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6DBBD-8734-4C9A-ADCC-CCC5DC3AFF2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142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7080A0"/>
                </a:solidFill>
              </a:rPr>
              <a:t>LLM, 어떻게 활용할 수 있을까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7EB8FF"/>
                </a:solidFill>
              </a:rPr>
              <a:t>개념부터 생태계까지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291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80A0"/>
                </a:solidFill>
              </a:rPr>
              <a:t>2026. 06. 11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</a:rPr>
              <a:t>머신러닝과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72800" cy="152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793623"/>
            <a:ext cx="5212080" cy="5563362"/>
          </a:xfrm>
          <a:prstGeom prst="rect">
            <a:avLst/>
          </a:prstGeom>
          <a:solidFill>
            <a:srgbClr val="1A1E30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2529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EB8FF"/>
                </a:solidFill>
              </a:rPr>
              <a:t>머신러닝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데이터로부터 규칙을 스스로 학습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7EB8FF"/>
                </a:solidFill>
              </a:rPr>
              <a:t>지도학습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  정답 레이블로 학습  →  분류, 예측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7EB8FF"/>
                </a:solidFill>
              </a:rPr>
              <a:t>비지도학습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  레이블 없이 패턴 발견  →  클러스터링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7EB8FF"/>
                </a:solidFill>
              </a:rPr>
              <a:t>강화학습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  보상 신호로 행동 최적화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AA40"/>
                </a:solidFill>
              </a:rPr>
              <a:t>딥러닝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  신경망 기반 머신러닝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  이미지·음성·텍스트 처리에 강함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793623"/>
            <a:ext cx="5422392" cy="5563362"/>
          </a:xfrm>
          <a:prstGeom prst="rect">
            <a:avLst/>
          </a:prstGeom>
          <a:solidFill>
            <a:srgbClr val="0F1A30"/>
          </a:solidFill>
          <a:ln w="12700">
            <a:solidFill>
              <a:srgbClr val="3A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22529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EB8FF"/>
                </a:solidFill>
              </a:rP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682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80A0"/>
                </a:solidFill>
              </a:rPr>
              <a:t>Large Language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993392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C8D8F0"/>
                </a:solidFill>
              </a:rPr>
              <a:t>수천억</a:t>
            </a:r>
            <a:r>
              <a:rPr sz="1500" b="0" dirty="0">
                <a:solidFill>
                  <a:srgbClr val="C8D8F0"/>
                </a:solidFill>
              </a:rPr>
              <a:t> 개 </a:t>
            </a:r>
            <a:r>
              <a:rPr sz="1500" b="0" dirty="0" err="1">
                <a:solidFill>
                  <a:srgbClr val="C8D8F0"/>
                </a:solidFill>
              </a:rPr>
              <a:t>텍스트로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사전학습된</a:t>
            </a:r>
            <a:endParaRPr sz="1500" b="0" dirty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C8D8F0"/>
                </a:solidFill>
              </a:rPr>
              <a:t>초거대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언어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모델</a:t>
            </a:r>
            <a:endParaRPr sz="1500" b="0" dirty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endParaRPr sz="1500" b="0" dirty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1" dirty="0" err="1">
                <a:solidFill>
                  <a:srgbClr val="7EB8FF"/>
                </a:solidFill>
              </a:rPr>
              <a:t>대표</a:t>
            </a:r>
            <a:r>
              <a:rPr sz="1500" b="1" dirty="0">
                <a:solidFill>
                  <a:srgbClr val="7EB8FF"/>
                </a:solidFill>
              </a:rPr>
              <a:t> </a:t>
            </a:r>
            <a:r>
              <a:rPr sz="1500" b="1" dirty="0" err="1">
                <a:solidFill>
                  <a:srgbClr val="7EB8FF"/>
                </a:solidFill>
              </a:rPr>
              <a:t>모델</a:t>
            </a:r>
            <a:endParaRPr sz="1500" b="1" dirty="0">
              <a:solidFill>
                <a:srgbClr val="7EB8FF"/>
              </a:solidFill>
            </a:endParaRP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C8D8F0"/>
                </a:solidFill>
              </a:rPr>
              <a:t>  GPT-4, Claude, Gemini  (</a:t>
            </a:r>
            <a:r>
              <a:rPr sz="1500" b="0" dirty="0" err="1">
                <a:solidFill>
                  <a:srgbClr val="C8D8F0"/>
                </a:solidFill>
              </a:rPr>
              <a:t>클로즈드</a:t>
            </a:r>
            <a:r>
              <a:rPr sz="1500" b="0" dirty="0">
                <a:solidFill>
                  <a:srgbClr val="C8D8F0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C8D8F0"/>
                </a:solidFill>
              </a:rPr>
              <a:t>  </a:t>
            </a:r>
            <a:r>
              <a:rPr sz="1500" b="0" dirty="0" err="1">
                <a:solidFill>
                  <a:srgbClr val="C8D8F0"/>
                </a:solidFill>
              </a:rPr>
              <a:t>LLaMA</a:t>
            </a:r>
            <a:r>
              <a:rPr sz="1500" b="0" dirty="0">
                <a:solidFill>
                  <a:srgbClr val="C8D8F0"/>
                </a:solidFill>
              </a:rPr>
              <a:t>, Qwen, Mistral   (</a:t>
            </a:r>
            <a:r>
              <a:rPr sz="1500" b="0" dirty="0" err="1">
                <a:solidFill>
                  <a:srgbClr val="C8D8F0"/>
                </a:solidFill>
              </a:rPr>
              <a:t>오픈소스</a:t>
            </a:r>
            <a:r>
              <a:rPr sz="1500" b="0" dirty="0">
                <a:solidFill>
                  <a:srgbClr val="C8D8F0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endParaRPr sz="1500" b="0" dirty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1" dirty="0" err="1">
                <a:solidFill>
                  <a:srgbClr val="7EB8FF"/>
                </a:solidFill>
              </a:rPr>
              <a:t>핵심</a:t>
            </a:r>
            <a:r>
              <a:rPr sz="1500" b="1" dirty="0">
                <a:solidFill>
                  <a:srgbClr val="7EB8FF"/>
                </a:solidFill>
              </a:rPr>
              <a:t> </a:t>
            </a:r>
            <a:r>
              <a:rPr sz="1500" b="1" dirty="0" err="1">
                <a:solidFill>
                  <a:srgbClr val="7EB8FF"/>
                </a:solidFill>
              </a:rPr>
              <a:t>능력</a:t>
            </a:r>
            <a:endParaRPr sz="1500" b="1" dirty="0">
              <a:solidFill>
                <a:srgbClr val="7EB8FF"/>
              </a:solidFill>
            </a:endParaRP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C8D8F0"/>
                </a:solidFill>
              </a:rPr>
              <a:t>  </a:t>
            </a:r>
            <a:r>
              <a:rPr sz="1500" b="0" dirty="0" err="1">
                <a:solidFill>
                  <a:srgbClr val="C8D8F0"/>
                </a:solidFill>
              </a:rPr>
              <a:t>자연어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이해</a:t>
            </a:r>
            <a:r>
              <a:rPr sz="1500" b="0" dirty="0">
                <a:solidFill>
                  <a:srgbClr val="C8D8F0"/>
                </a:solidFill>
              </a:rPr>
              <a:t> &amp; </a:t>
            </a:r>
            <a:r>
              <a:rPr sz="1500" b="0" dirty="0" err="1">
                <a:solidFill>
                  <a:srgbClr val="C8D8F0"/>
                </a:solidFill>
              </a:rPr>
              <a:t>생성</a:t>
            </a:r>
            <a:endParaRPr sz="1500" b="0" dirty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C8D8F0"/>
                </a:solidFill>
              </a:rPr>
              <a:t>  </a:t>
            </a:r>
            <a:r>
              <a:rPr sz="1500" b="0" dirty="0" err="1">
                <a:solidFill>
                  <a:srgbClr val="C8D8F0"/>
                </a:solidFill>
              </a:rPr>
              <a:t>지식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내재화</a:t>
            </a:r>
            <a:endParaRPr sz="1500" b="0" dirty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C8D8F0"/>
                </a:solidFill>
              </a:rPr>
              <a:t>  </a:t>
            </a:r>
            <a:r>
              <a:rPr sz="1500" b="0" dirty="0" err="1">
                <a:solidFill>
                  <a:srgbClr val="C8D8F0"/>
                </a:solidFill>
              </a:rPr>
              <a:t>다양한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태스크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범용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처리</a:t>
            </a:r>
            <a:endParaRPr sz="1500" b="0" dirty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endParaRPr sz="1500" b="0" dirty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C8D8F0"/>
                </a:solidFill>
              </a:rPr>
              <a:t>학습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데이터</a:t>
            </a:r>
            <a:r>
              <a:rPr sz="1500" b="0" dirty="0">
                <a:solidFill>
                  <a:srgbClr val="C8D8F0"/>
                </a:solidFill>
              </a:rPr>
              <a:t>: </a:t>
            </a:r>
            <a:r>
              <a:rPr sz="1500" b="0" dirty="0" err="1">
                <a:solidFill>
                  <a:srgbClr val="C8D8F0"/>
                </a:solidFill>
              </a:rPr>
              <a:t>인터넷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텍스트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수조</a:t>
            </a:r>
            <a:r>
              <a:rPr sz="1500" b="0" dirty="0">
                <a:solidFill>
                  <a:srgbClr val="C8D8F0"/>
                </a:solidFill>
              </a:rPr>
              <a:t> </a:t>
            </a:r>
            <a:r>
              <a:rPr sz="1500" b="0" dirty="0" err="1">
                <a:solidFill>
                  <a:srgbClr val="C8D8F0"/>
                </a:solidFill>
              </a:rPr>
              <a:t>토큰</a:t>
            </a:r>
            <a:endParaRPr sz="1500" b="0" dirty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C8D8F0"/>
                </a:solidFill>
              </a:rPr>
              <a:t>파라미터</a:t>
            </a:r>
            <a:r>
              <a:rPr sz="1500" b="0" dirty="0">
                <a:solidFill>
                  <a:srgbClr val="C8D8F0"/>
                </a:solidFill>
              </a:rPr>
              <a:t>:   </a:t>
            </a:r>
            <a:r>
              <a:rPr sz="1500" b="0" dirty="0" err="1">
                <a:solidFill>
                  <a:srgbClr val="C8D8F0"/>
                </a:solidFill>
              </a:rPr>
              <a:t>수십억</a:t>
            </a:r>
            <a:r>
              <a:rPr sz="1500" b="0" dirty="0">
                <a:solidFill>
                  <a:srgbClr val="C8D8F0"/>
                </a:solidFill>
              </a:rPr>
              <a:t> ~ </a:t>
            </a:r>
            <a:r>
              <a:rPr sz="1500" b="0" dirty="0" err="1">
                <a:solidFill>
                  <a:srgbClr val="C8D8F0"/>
                </a:solidFill>
              </a:rPr>
              <a:t>수천억</a:t>
            </a:r>
            <a:r>
              <a:rPr sz="1500" b="0" dirty="0">
                <a:solidFill>
                  <a:srgbClr val="C8D8F0"/>
                </a:solidFill>
              </a:rPr>
              <a:t> 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</a:rPr>
              <a:t>LLM 동작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80A0"/>
                </a:solidFill>
              </a:rPr>
              <a:t>Transformer 기반 언어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152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5212080" cy="4983480"/>
          </a:xfrm>
          <a:prstGeom prst="rect">
            <a:avLst/>
          </a:prstGeom>
          <a:solidFill>
            <a:srgbClr val="1A1E30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2A8FF"/>
                </a:solidFill>
              </a:rPr>
              <a:t>Transformer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LLM의 핵심 구조 (2017, Google)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2A8FF"/>
                </a:solidFill>
              </a:rPr>
              <a:t>Self-Attention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  입력 토큰들 간 관계를 학습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  멀리 떨어진 단어도 연결 가능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2A8FF"/>
                </a:solidFill>
              </a:rPr>
              <a:t>Feed-Forward Network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  각 토큰의 표현을 변환</a:t>
            </a:r>
          </a:p>
          <a:p>
            <a:pPr>
              <a:spcAft>
                <a:spcPts val="600"/>
              </a:spcAft>
            </a:pPr>
            <a:endParaRPr sz="15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2A8FF"/>
                </a:solidFill>
              </a:rPr>
              <a:t>레이어를 쌓을수록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  추상적인 개념 표현 가능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8D8F0"/>
                </a:solidFill>
              </a:rPr>
              <a:t>  7B = 약 32개 레이어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1307592"/>
            <a:ext cx="5422392" cy="2331720"/>
          </a:xfrm>
          <a:prstGeom prst="rect">
            <a:avLst/>
          </a:prstGeom>
          <a:solidFill>
            <a:srgbClr val="111E11"/>
          </a:solidFill>
          <a:ln w="12700">
            <a:solidFill>
              <a:srgbClr val="2A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14904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DDF5D"/>
                </a:solidFill>
              </a:rPr>
              <a:t>사전학습 (Pre-training)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947672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C8D8F0"/>
                </a:solidFill>
              </a:rPr>
              <a:t>다음 토큰 예측을 반복하며 언어 습득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C8D8F0"/>
                </a:solidFill>
              </a:rPr>
              <a:t>수천억 토큰  ·  수백만 달러  ·  수 개월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C8D8F0"/>
                </a:solidFill>
              </a:rPr>
              <a:t>→  GPT, LLaMA 등 베이스 모델 탄생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3912" y="3776472"/>
            <a:ext cx="5422392" cy="2514600"/>
          </a:xfrm>
          <a:prstGeom prst="rect">
            <a:avLst/>
          </a:prstGeom>
          <a:solidFill>
            <a:srgbClr val="0F1A30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EB8FF"/>
                </a:solidFill>
              </a:rPr>
              <a:t>토큰화 &amp; 추론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416552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0">
                <a:solidFill>
                  <a:srgbClr val="C8D8F0"/>
                </a:solidFill>
              </a:rPr>
              <a:t>텍스트  →  토큰(숫자) 변환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C8D8F0"/>
                </a:solidFill>
              </a:rPr>
              <a:t>한국어 1글자  ≈  1~3 토큰</a:t>
            </a:r>
          </a:p>
          <a:p>
            <a:pPr>
              <a:spcAft>
                <a:spcPts val="600"/>
              </a:spcAft>
            </a:pPr>
            <a:endParaRPr sz="145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C8D8F0"/>
                </a:solidFill>
              </a:rPr>
              <a:t>토큰을 하나씩 순서대로 생성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C8D8F0"/>
                </a:solidFill>
              </a:rPr>
              <a:t>Greedy / Sampling / Beam Search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C8D8F0"/>
                </a:solidFill>
              </a:rPr>
              <a:t>temperature로 창의성 조절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</a:rPr>
              <a:t>LLM 활용 &amp; 성능 향상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72800" cy="152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2103120" cy="4983480"/>
          </a:xfrm>
          <a:prstGeom prst="rect">
            <a:avLst/>
          </a:prstGeom>
          <a:solidFill>
            <a:srgbClr val="0F1E1E"/>
          </a:solidFill>
          <a:ln w="19050">
            <a:solidFill>
              <a:srgbClr val="2A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33856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4AD4C0"/>
                </a:solidFill>
              </a:rPr>
              <a:t>프롬프트
엔지니어링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65376"/>
            <a:ext cx="1828800" cy="12700"/>
          </a:xfrm>
          <a:prstGeom prst="rect">
            <a:avLst/>
          </a:prstGeom>
          <a:solidFill>
            <a:srgbClr val="4AD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18288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비용  없음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난이도  낮음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시스템 프롬프트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Few-shot 예시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Chain-of-Thought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Role prompting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한계: 모델 능력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자체는 그대로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987552"/>
            <a:ext cx="2103120" cy="4983480"/>
          </a:xfrm>
          <a:prstGeom prst="rect">
            <a:avLst/>
          </a:prstGeom>
          <a:solidFill>
            <a:srgbClr val="0F1A30"/>
          </a:solidFill>
          <a:ln w="1905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1133856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EB8FF"/>
                </a:solidFill>
              </a:rPr>
              <a:t>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1865376"/>
            <a:ext cx="1828800" cy="12700"/>
          </a:xfrm>
          <a:prstGeom prst="rect">
            <a:avLst/>
          </a:prstGeom>
          <a:solidFill>
            <a:srgbClr val="7E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1993392"/>
            <a:ext cx="18288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비용  서버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난이도  중간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외부 문서 검색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→ 컨텍스트로 주입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최신 정보 반영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할루시네이션 감소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한계: 검색 실패 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여전히 취약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987552"/>
            <a:ext cx="2103120" cy="4983480"/>
          </a:xfrm>
          <a:prstGeom prst="rect">
            <a:avLst/>
          </a:prstGeom>
          <a:solidFill>
            <a:srgbClr val="111E11"/>
          </a:solidFill>
          <a:ln w="19050">
            <a:solidFill>
              <a:srgbClr val="2A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1133856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DDF5D"/>
                </a:solidFill>
              </a:rPr>
              <a:t>파인튜닝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865376"/>
            <a:ext cx="1828800" cy="12700"/>
          </a:xfrm>
          <a:prstGeom prst="rect">
            <a:avLst/>
          </a:prstGeom>
          <a:solidFill>
            <a:srgbClr val="5DD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1993392"/>
            <a:ext cx="18288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비용  GPU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난이도  중간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LoRA / QLoRA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도메인 특화 학습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포맷·스타일 고정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모델 능력 자체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향상 가능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데이터 품질이 전부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987552"/>
            <a:ext cx="2103120" cy="4983480"/>
          </a:xfrm>
          <a:prstGeom prst="rect">
            <a:avLst/>
          </a:prstGeom>
          <a:solidFill>
            <a:srgbClr val="1E1408"/>
          </a:solidFill>
          <a:ln w="19050">
            <a:solidFill>
              <a:srgbClr val="5C3A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1133856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AA40"/>
                </a:solidFill>
              </a:rPr>
              <a:t>에이전트
/ 툴 사용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865376"/>
            <a:ext cx="1828800" cy="12700"/>
          </a:xfrm>
          <a:prstGeom prst="rect">
            <a:avLst/>
          </a:prstGeom>
          <a:solidFill>
            <a:srgbClr val="FFA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1993392"/>
            <a:ext cx="18288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비용  API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난이도  중간~높음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웹 검색, 코드 실행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DB 조회, API 호출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LangChain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LlamaIndex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AutoGen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복잡한 태스크 처리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987552"/>
            <a:ext cx="2103120" cy="4983480"/>
          </a:xfrm>
          <a:prstGeom prst="rect">
            <a:avLst/>
          </a:prstGeom>
          <a:solidFill>
            <a:srgbClr val="1A112A"/>
          </a:solidFill>
          <a:ln w="19050">
            <a:solidFill>
              <a:srgbClr val="5A2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21240" y="1133856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D2A8FF"/>
                </a:solidFill>
              </a:rPr>
              <a:t>지식 증류
(KD)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1865376"/>
            <a:ext cx="1828800" cy="127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21240" y="1993392"/>
            <a:ext cx="18288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비용  Teacher GPU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난이도  높음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큰 모델 → 작은 모델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추론 능력 이식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CoT Distillation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&lt;think&gt; 포함 학습</a:t>
            </a:r>
          </a:p>
          <a:p>
            <a:pPr>
              <a:spcAft>
                <a:spcPts val="600"/>
              </a:spcAft>
            </a:pPr>
            <a:endParaRPr sz="1300" b="0">
              <a:solidFill>
                <a:srgbClr val="C8D8F0"/>
              </a:solidFill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DeepSeek-R1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8D8F0"/>
                </a:solidFill>
              </a:rPr>
              <a:t>Qwen3 distill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</a:rPr>
              <a:t>라이브러리 &amp; 도구 생태계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72800" cy="152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014984"/>
            <a:ext cx="5303520" cy="2331720"/>
          </a:xfrm>
          <a:prstGeom prst="rect">
            <a:avLst/>
          </a:prstGeom>
          <a:solidFill>
            <a:srgbClr val="1A1E30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521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EB8FF"/>
                </a:solidFill>
              </a:rPr>
              <a:t>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9105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EB8FF"/>
                </a:solidFill>
              </a:rPr>
              <a:t>PEFT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910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HuggingFace 공식  LoRA 구현 표준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751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2A8FF"/>
                </a:solidFill>
              </a:rPr>
              <a:t>TRL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751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SFT · DPO · RLHF 통합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DDF5D"/>
                </a:solidFill>
              </a:rPr>
              <a:t>Unsloth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591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LoRA 2~5배 가속  Flash Attention 내장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4C0"/>
                </a:solidFill>
              </a:rPr>
              <a:t>Axolotl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743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YAML 설정만으로 파인튜닝  멀티GPU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83864"/>
            <a:ext cx="5303520" cy="2514600"/>
          </a:xfrm>
          <a:prstGeom prst="rect">
            <a:avLst/>
          </a:prstGeom>
          <a:solidFill>
            <a:srgbClr val="1A1E30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6210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AA40"/>
                </a:solidFill>
              </a:rPr>
              <a:t>서빙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96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A40"/>
                </a:solidFill>
              </a:rPr>
              <a:t>llama.cpp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965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C++ 추론 엔진  GGUF 양자화 포맷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050"/>
                </a:solidFill>
              </a:rPr>
              <a:t>Ollama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480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로컬 LLM 서버  설치 1분  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646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070"/>
                </a:solidFill>
              </a:rPr>
              <a:t>vLLM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8646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고성능 서버  PagedAttention  OpenAI 호환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486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080A0"/>
                </a:solidFill>
              </a:rPr>
              <a:t>LM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2486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GUI 기반 로컬 실행  프로토타이핑용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1014984"/>
            <a:ext cx="5422392" cy="2331720"/>
          </a:xfrm>
          <a:prstGeom prst="rect">
            <a:avLst/>
          </a:prstGeom>
          <a:solidFill>
            <a:srgbClr val="1A1E30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115214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D4C0"/>
                </a:solidFill>
              </a:rPr>
              <a:t>에이전트 프레임워크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159105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4C0"/>
                </a:solidFill>
              </a:rPr>
              <a:t>LangChain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15910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LLM 앱 구축 표준  RAG·에이전트·툴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206654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4C0"/>
                </a:solidFill>
              </a:rPr>
              <a:t>LlamaIndex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2" y="20665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문서 기반 RAG 특화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25420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D4C0"/>
                </a:solidFill>
              </a:rPr>
              <a:t>AutoGen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25420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80A0"/>
                </a:solidFill>
              </a:rPr>
              <a:t>멀티 에이전트 자동화  Microsoft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53912" y="3483864"/>
            <a:ext cx="5422392" cy="2514600"/>
          </a:xfrm>
          <a:prstGeom prst="rect">
            <a:avLst/>
          </a:prstGeom>
          <a:solidFill>
            <a:srgbClr val="1A1E30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28232" y="362102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2A8FF"/>
                </a:solidFill>
              </a:rPr>
              <a:t>평가 &amp; 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40965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A8FF"/>
                </a:solidFill>
              </a:rPr>
              <a:t>HuggingFace 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0965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80A0"/>
                </a:solidFill>
              </a:rPr>
              <a:t>모델·데이터셋 허브  가장 큰 공개 저장소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4572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A8FF"/>
                </a:solidFill>
              </a:rPr>
              <a:t>ROUGE / BERTScore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2" y="45720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80A0"/>
                </a:solidFill>
              </a:rPr>
              <a:t>텍스트 생성 품질 평가 지표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5047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2A8FF"/>
                </a:solidFill>
              </a:rPr>
              <a:t>Weights &amp; Biases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50474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80A0"/>
                </a:solidFill>
              </a:rPr>
              <a:t>학습 과정 시각화  실험 관리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</a:rPr>
              <a:t>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80A0"/>
                </a:solidFill>
              </a:rPr>
              <a:t>강의자료 기반 질의응답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152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07592"/>
            <a:ext cx="6858000" cy="5029200"/>
          </a:xfrm>
          <a:prstGeom prst="rect">
            <a:avLst/>
          </a:prstGeom>
          <a:solidFill>
            <a:srgbClr val="1A1E30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EB8FF"/>
                </a:solidFill>
              </a:rPr>
              <a:t>구성 요소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47672"/>
            <a:ext cx="2011680" cy="502920"/>
          </a:xfrm>
          <a:prstGeom prst="rect">
            <a:avLst/>
          </a:prstGeom>
          <a:solidFill>
            <a:srgbClr val="0F1A30"/>
          </a:solidFill>
          <a:ln w="15240">
            <a:solidFill>
              <a:srgbClr val="7E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208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EB8FF"/>
                </a:solidFill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03911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F0"/>
                </a:solidFill>
              </a:rPr>
              <a:t>백엔드 서버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660904"/>
            <a:ext cx="2011680" cy="502920"/>
          </a:xfrm>
          <a:prstGeom prst="rect">
            <a:avLst/>
          </a:prstGeom>
          <a:solidFill>
            <a:srgbClr val="0F1A30"/>
          </a:solidFill>
          <a:ln w="15240">
            <a:solidFill>
              <a:srgbClr val="4A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340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D4C0"/>
                </a:solidFill>
              </a:rPr>
              <a:t>FAISS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75234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F0"/>
                </a:solidFill>
              </a:rPr>
              <a:t>벡터 DB  ·  유사도 검색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74136"/>
            <a:ext cx="2011680" cy="502920"/>
          </a:xfrm>
          <a:prstGeom prst="rect">
            <a:avLst/>
          </a:prstGeom>
          <a:solidFill>
            <a:srgbClr val="0F1A30"/>
          </a:solidFill>
          <a:ln w="1524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472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2A8FF"/>
                </a:solidFill>
              </a:rPr>
              <a:t>BGE Reranker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46557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F0"/>
                </a:solidFill>
              </a:rPr>
              <a:t>검색 결과 재순위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87368"/>
            <a:ext cx="2011680" cy="502920"/>
          </a:xfrm>
          <a:prstGeom prst="rect">
            <a:avLst/>
          </a:prstGeom>
          <a:solidFill>
            <a:srgbClr val="0F1A30"/>
          </a:solidFill>
          <a:ln w="15240">
            <a:solidFill>
              <a:srgbClr val="708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080A0"/>
                </a:solidFill>
              </a:rPr>
              <a:t>Parent-Child 청킹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17880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F0"/>
                </a:solidFill>
              </a:rPr>
              <a:t>문서 구조 보존 청킹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00600"/>
            <a:ext cx="2011680" cy="502920"/>
          </a:xfrm>
          <a:prstGeom prst="rect">
            <a:avLst/>
          </a:prstGeom>
          <a:solidFill>
            <a:srgbClr val="0F1A30"/>
          </a:solidFill>
          <a:ln w="15240">
            <a:solidFill>
              <a:srgbClr val="5DD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8737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DDF5D"/>
                </a:solidFill>
              </a:rPr>
              <a:t>Qwen3-8B / Ollama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8920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F0"/>
                </a:solidFill>
              </a:rPr>
              <a:t>로컬 LLM 추론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513832"/>
            <a:ext cx="2011680" cy="502920"/>
          </a:xfrm>
          <a:prstGeom prst="rect">
            <a:avLst/>
          </a:prstGeom>
          <a:solidFill>
            <a:srgbClr val="0F1A30"/>
          </a:solidFill>
          <a:ln w="15240">
            <a:solidFill>
              <a:srgbClr val="FFA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869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AA40"/>
                </a:solidFill>
              </a:rPr>
              <a:t>JWT 인증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560527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8F0"/>
                </a:solidFill>
              </a:rPr>
              <a:t>학생 개인화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08392" y="1307592"/>
            <a:ext cx="3867912" cy="2286000"/>
          </a:xfrm>
          <a:prstGeom prst="rect">
            <a:avLst/>
          </a:prstGeom>
          <a:solidFill>
            <a:srgbClr val="251010"/>
          </a:solidFill>
          <a:ln w="25400">
            <a:solidFill>
              <a:srgbClr val="FF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82712" y="1444752"/>
            <a:ext cx="3319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7070"/>
                </a:solidFill>
              </a:rPr>
              <a:t>한계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1920240"/>
            <a:ext cx="33192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C8D8F0"/>
                </a:solidFill>
              </a:rPr>
              <a:t>Hallucination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C8D8F0"/>
                </a:solidFill>
              </a:rPr>
              <a:t>단답  ·  추론 부재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C8D8F0"/>
                </a:solidFill>
              </a:rPr>
              <a:t>도메인 맥락 부족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8392" y="3730752"/>
            <a:ext cx="3867912" cy="2606040"/>
          </a:xfrm>
          <a:prstGeom prst="rect">
            <a:avLst/>
          </a:prstGeom>
          <a:solidFill>
            <a:srgbClr val="111E11"/>
          </a:solidFill>
          <a:ln w="25400">
            <a:solidFill>
              <a:srgbClr val="5DD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82712" y="3867912"/>
            <a:ext cx="3319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DDF5D"/>
                </a:solidFill>
              </a:rPr>
              <a:t>목표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2712" y="4343400"/>
            <a:ext cx="33192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C8D8F0"/>
                </a:solidFill>
              </a:rPr>
              <a:t>Faithfulness ↑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C8D8F0"/>
                </a:solidFill>
              </a:rPr>
              <a:t>CoT 설명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C8D8F0"/>
                </a:solidFill>
              </a:rPr>
              <a:t>Hallucination 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8F0"/>
                </a:solidFill>
              </a:rPr>
              <a:t>Reasoning Distillation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80A0"/>
                </a:solidFill>
              </a:rPr>
              <a:t>Qwen3-14B  →  Qwen3-8B  ·  LoRA r=32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10972800" cy="15240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35024"/>
            <a:ext cx="1920240" cy="1280160"/>
          </a:xfrm>
          <a:prstGeom prst="rect">
            <a:avLst/>
          </a:prstGeom>
          <a:solidFill>
            <a:srgbClr val="1A1A3A"/>
          </a:solidFill>
          <a:ln w="25400">
            <a:solidFill>
              <a:srgbClr val="7E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7EB8FF"/>
                </a:solidFill>
              </a:rPr>
              <a:t>Wikipedia
한국어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581912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080A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335024"/>
            <a:ext cx="1920240" cy="1280160"/>
          </a:xfrm>
          <a:prstGeom prst="rect">
            <a:avLst/>
          </a:prstGeom>
          <a:solidFill>
            <a:srgbClr val="2A1808"/>
          </a:solidFill>
          <a:ln w="25400">
            <a:solidFill>
              <a:srgbClr val="FFA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07208" y="1490472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AA40"/>
                </a:solidFill>
              </a:rPr>
              <a:t>Teacher
Qwen3-14B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581912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080A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6" y="1335024"/>
            <a:ext cx="1920240" cy="1280160"/>
          </a:xfrm>
          <a:prstGeom prst="rect">
            <a:avLst/>
          </a:prstGeom>
          <a:solidFill>
            <a:srgbClr val="111E11"/>
          </a:solidFill>
          <a:ln w="25400">
            <a:solidFill>
              <a:srgbClr val="5DD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6" y="1490472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DDF5D"/>
                </a:solidFill>
              </a:rPr>
              <a:t>CoT QA
~50,000개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1581912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080A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1464" y="1335024"/>
            <a:ext cx="1920240" cy="1280160"/>
          </a:xfrm>
          <a:prstGeom prst="rect">
            <a:avLst/>
          </a:prstGeom>
          <a:solidFill>
            <a:srgbClr val="1A112A"/>
          </a:solidFill>
          <a:ln w="254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41464" y="1490472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2A8FF"/>
                </a:solidFill>
              </a:rPr>
              <a:t>Student
Qwen3-8B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1581912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080A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8592" y="1335024"/>
            <a:ext cx="1920240" cy="1280160"/>
          </a:xfrm>
          <a:prstGeom prst="rect">
            <a:avLst/>
          </a:prstGeom>
          <a:solidFill>
            <a:srgbClr val="0F1E1E"/>
          </a:solidFill>
          <a:ln w="25400">
            <a:solidFill>
              <a:srgbClr val="4AD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08592" y="1490472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AD4C0"/>
                </a:solidFill>
              </a:rPr>
              <a:t>GGUF
Ollama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34640"/>
            <a:ext cx="3593592" cy="3429000"/>
          </a:xfrm>
          <a:prstGeom prst="rect">
            <a:avLst/>
          </a:prstGeom>
          <a:solidFill>
            <a:srgbClr val="1A1E30"/>
          </a:solidFill>
          <a:ln w="19050">
            <a:solidFill>
              <a:srgbClr val="7E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971800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EB8FF"/>
                </a:solidFill>
              </a:rPr>
              <a:t>데이터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401568"/>
            <a:ext cx="3227832" cy="12700"/>
          </a:xfrm>
          <a:prstGeom prst="rect">
            <a:avLst/>
          </a:prstGeom>
          <a:solidFill>
            <a:srgbClr val="7E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584448"/>
            <a:ext cx="3227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C8D8F0"/>
                </a:solidFill>
              </a:rPr>
              <a:t>Wikipedia  ·  KLUE/MRC  ·  OpenThoughts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389120"/>
            <a:ext cx="3227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C8D8F0"/>
                </a:solidFill>
              </a:rPr>
              <a:t>CoT  ·  &lt;think&gt; 태그  ·  ChatML 포맷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93792"/>
            <a:ext cx="3227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C8D8F0"/>
                </a:solidFill>
              </a:rPr>
              <a:t>Faithfulness 필터  ·  체크포인트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834640"/>
            <a:ext cx="3593592" cy="3429000"/>
          </a:xfrm>
          <a:prstGeom prst="rect">
            <a:avLst/>
          </a:prstGeom>
          <a:solidFill>
            <a:srgbClr val="1A1E30"/>
          </a:solidFill>
          <a:ln w="19050">
            <a:solidFill>
              <a:srgbClr val="5DD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2971800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DDF5D"/>
                </a:solidFill>
              </a:rPr>
              <a:t>학습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401568"/>
            <a:ext cx="3227832" cy="12700"/>
          </a:xfrm>
          <a:prstGeom prst="rect">
            <a:avLst/>
          </a:prstGeom>
          <a:solidFill>
            <a:srgbClr val="5DD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584448"/>
            <a:ext cx="3227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C8D8F0"/>
                </a:solidFill>
              </a:rPr>
              <a:t>LoRA  r=32  ·  fp16  ·  alpha=64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389120"/>
            <a:ext cx="3227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C8D8F0"/>
                </a:solidFill>
              </a:rPr>
              <a:t>Sequence Packing  ·  Grad Checkpointing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93792"/>
            <a:ext cx="3227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C8D8F0"/>
                </a:solidFill>
              </a:rPr>
              <a:t>Kubeflow  ·  L40S 44GB  ·  Watchdog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834640"/>
            <a:ext cx="3593592" cy="3429000"/>
          </a:xfrm>
          <a:prstGeom prst="rect">
            <a:avLst/>
          </a:prstGeom>
          <a:solidFill>
            <a:srgbClr val="1A1E30"/>
          </a:solidFill>
          <a:ln w="19050">
            <a:solidFill>
              <a:srgbClr val="FFA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2971800"/>
            <a:ext cx="32278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AA40"/>
                </a:solidFill>
              </a:rPr>
              <a:t>평가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401568"/>
            <a:ext cx="3227832" cy="12700"/>
          </a:xfrm>
          <a:prstGeom prst="rect">
            <a:avLst/>
          </a:prstGeom>
          <a:solidFill>
            <a:srgbClr val="FFA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3584448"/>
            <a:ext cx="3227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C8D8F0"/>
                </a:solidFill>
              </a:rPr>
              <a:t>ROUGE-L  ≥ 0.35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89120"/>
            <a:ext cx="3227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C8D8F0"/>
                </a:solidFill>
              </a:rPr>
              <a:t>BERTScore  ≥ 0.80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193792"/>
            <a:ext cx="3227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C8D8F0"/>
                </a:solidFill>
              </a:rPr>
              <a:t>Faithfulness  ≥ 0.70  ·  Hallucination  ≤ 0.10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EB8FF"/>
                </a:solidFill>
              </a:rPr>
              <a:t>현재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96012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DDF5D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005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DDF5D"/>
                </a:solidFill>
              </a:rPr>
              <a:t>파이프라인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051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080A0"/>
                </a:solidFill>
              </a:rPr>
              <a:t>데이터 생성  ·  학습  ·  평가 스크립트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830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DDF5D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DDF5D"/>
                </a:solidFill>
              </a:rPr>
              <a:t>데이터셋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74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080A0"/>
                </a:solidFill>
              </a:rPr>
              <a:t>~50,000개 병합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AA40"/>
                </a:solidFill>
              </a:rPr>
              <a:t>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51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AA40"/>
                </a:solidFill>
              </a:rPr>
              <a:t>학습 진행 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697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080A0"/>
                </a:solidFill>
              </a:rPr>
              <a:t>Kubeflow L40S  ·  결과 대기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2900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080A0"/>
                </a:solidFill>
              </a:rPr>
              <a:t>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474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080A0"/>
                </a:solidFill>
              </a:rPr>
              <a:t>서빙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520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080A0"/>
                </a:solidFill>
              </a:rPr>
              <a:t>GGUF 변환  →  Ollama  ·  Tailscale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519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7080A0"/>
                </a:solidFill>
              </a:rPr>
              <a:t>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97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080A0"/>
                </a:solidFill>
              </a:rPr>
              <a:t>DPO 정렬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343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080A0"/>
                </a:solidFill>
              </a:rPr>
              <a:t>학습 결과 확인 후 진행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5212080"/>
            <a:ext cx="9601200" cy="12700"/>
          </a:xfrm>
          <a:prstGeom prst="rect">
            <a:avLst/>
          </a:prstGeom>
          <a:solidFill>
            <a:srgbClr val="2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54406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7EB8FF"/>
                </a:solidFill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658</Words>
  <Application>Microsoft Office PowerPoint</Application>
  <PresentationFormat>사용자 지정</PresentationFormat>
  <Paragraphs>216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InJun Jang</cp:lastModifiedBy>
  <cp:revision>1</cp:revision>
  <dcterms:created xsi:type="dcterms:W3CDTF">2013-01-27T09:14:16Z</dcterms:created>
  <dcterms:modified xsi:type="dcterms:W3CDTF">2026-06-10T23:40:08Z</dcterms:modified>
  <cp:category/>
</cp:coreProperties>
</file>