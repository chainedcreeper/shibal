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32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Jun Jang" userId="8e5af0c259678f90" providerId="LiveId" clId="{12CD7FFF-ABCE-4973-A386-AD2E68529F80}"/>
    <pc:docChg chg="modSld">
      <pc:chgData name="InJun Jang" userId="8e5af0c259678f90" providerId="LiveId" clId="{12CD7FFF-ABCE-4973-A386-AD2E68529F80}" dt="2026-06-11T23:11:14.300" v="2" actId="20577"/>
      <pc:docMkLst>
        <pc:docMk/>
      </pc:docMkLst>
      <pc:sldChg chg="modSp mod">
        <pc:chgData name="InJun Jang" userId="8e5af0c259678f90" providerId="LiveId" clId="{12CD7FFF-ABCE-4973-A386-AD2E68529F80}" dt="2026-06-11T23:11:14.300" v="2" actId="20577"/>
        <pc:sldMkLst>
          <pc:docMk/>
          <pc:sldMk cId="0" sldId="257"/>
        </pc:sldMkLst>
        <pc:spChg chg="mod">
          <ac:chgData name="InJun Jang" userId="8e5af0c259678f90" providerId="LiveId" clId="{12CD7FFF-ABCE-4973-A386-AD2E68529F80}" dt="2026-06-11T23:11:14.300" v="2" actId="20577"/>
          <ac:spMkLst>
            <pc:docMk/>
            <pc:sldMk cId="0" sldId="257"/>
            <ac:spMk id="10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18288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7EB8FF"/>
                </a:solidFill>
              </a:rPr>
              <a:t>머신러닝 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0175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080A0"/>
                </a:solidFill>
              </a:rPr>
              <a:t>LLM 파인튜닝 시도기  —  Knowledge Distillation + 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6291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080A0"/>
                </a:solidFill>
              </a:rPr>
              <a:t>2026. 06. 12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E8F0"/>
                </a:solidFill>
              </a:rPr>
              <a:t>파인튜닝이란?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80A0"/>
                </a:solidFill>
              </a:rPr>
              <a:t>Fine-tuning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87552"/>
            <a:ext cx="10972800" cy="152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07592"/>
            <a:ext cx="10972800" cy="1005840"/>
          </a:xfrm>
          <a:prstGeom prst="rect">
            <a:avLst/>
          </a:prstGeom>
          <a:solidFill>
            <a:srgbClr val="0F1A30"/>
          </a:solidFill>
          <a:ln w="12700">
            <a:solidFill>
              <a:srgbClr val="3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7EB8FF"/>
                </a:solidFill>
              </a:rPr>
              <a:t>사전학습된 LLM을 우리 목적에 맞게 추가 학습하는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5212080" cy="3931920"/>
          </a:xfrm>
          <a:prstGeom prst="rect">
            <a:avLst/>
          </a:prstGeom>
          <a:solidFill>
            <a:srgbClr val="251010"/>
          </a:solidFill>
          <a:ln w="19050">
            <a:solidFill>
              <a:srgbClr val="FF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624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7070"/>
                </a:solidFill>
              </a:rPr>
              <a:t>범용 LLM의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475488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C8D8F0"/>
                </a:solidFill>
              </a:rPr>
              <a:t>•  </a:t>
            </a:r>
            <a:r>
              <a:rPr sz="1600" b="0" dirty="0" err="1">
                <a:solidFill>
                  <a:srgbClr val="C8D8F0"/>
                </a:solidFill>
              </a:rPr>
              <a:t>도메인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지식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부족</a:t>
            </a:r>
            <a:endParaRPr sz="1600" b="0" dirty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C8D8F0"/>
                </a:solidFill>
              </a:rPr>
              <a:t>•  </a:t>
            </a:r>
            <a:r>
              <a:rPr sz="1600" b="0" dirty="0" err="1">
                <a:solidFill>
                  <a:srgbClr val="C8D8F0"/>
                </a:solidFill>
              </a:rPr>
              <a:t>할루시네이션</a:t>
            </a:r>
            <a:r>
              <a:rPr sz="1600" b="0" dirty="0">
                <a:solidFill>
                  <a:srgbClr val="C8D8F0"/>
                </a:solidFill>
              </a:rPr>
              <a:t>  (</a:t>
            </a:r>
            <a:r>
              <a:rPr sz="1600" b="0" dirty="0" err="1">
                <a:solidFill>
                  <a:srgbClr val="C8D8F0"/>
                </a:solidFill>
              </a:rPr>
              <a:t>지문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벗어난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내용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지어냄</a:t>
            </a:r>
            <a:r>
              <a:rPr sz="1600" b="0" dirty="0">
                <a:solidFill>
                  <a:srgbClr val="C8D8F0"/>
                </a:solidFill>
              </a:rPr>
              <a:t>)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C8D8F0"/>
                </a:solidFill>
              </a:rPr>
              <a:t>•  </a:t>
            </a:r>
            <a:r>
              <a:rPr sz="1600" b="0" dirty="0" err="1">
                <a:solidFill>
                  <a:srgbClr val="C8D8F0"/>
                </a:solidFill>
              </a:rPr>
              <a:t>추론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없이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단답만</a:t>
            </a:r>
            <a:r>
              <a:rPr sz="1600" b="0" dirty="0">
                <a:solidFill>
                  <a:srgbClr val="C8D8F0"/>
                </a:solidFill>
              </a:rPr>
              <a:t> </a:t>
            </a:r>
            <a:r>
              <a:rPr sz="1600" b="0" dirty="0" err="1">
                <a:solidFill>
                  <a:srgbClr val="C8D8F0"/>
                </a:solidFill>
              </a:rPr>
              <a:t>뱉음</a:t>
            </a:r>
            <a:endParaRPr sz="1600" b="0" dirty="0">
              <a:solidFill>
                <a:srgbClr val="C8D8F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53912" y="2468880"/>
            <a:ext cx="5458968" cy="3931920"/>
          </a:xfrm>
          <a:prstGeom prst="rect">
            <a:avLst/>
          </a:prstGeom>
          <a:solidFill>
            <a:srgbClr val="111E11"/>
          </a:solidFill>
          <a:ln w="19050">
            <a:solidFill>
              <a:srgbClr val="5DD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2624328"/>
            <a:ext cx="50017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5DDF5D"/>
                </a:solidFill>
              </a:rPr>
              <a:t>우리가 선택한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063240"/>
            <a:ext cx="500176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AA40"/>
                </a:solidFill>
              </a:rPr>
              <a:t>Knowledge Distillation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8D8F0"/>
                </a:solidFill>
              </a:rPr>
              <a:t>  큰 모델(Teacher)의 추론 과정을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8D8F0"/>
                </a:solidFill>
              </a:rPr>
              <a:t>  작은 모델(Student)에 이식</a:t>
            </a:r>
          </a:p>
          <a:p>
            <a:pPr>
              <a:spcAft>
                <a:spcPts val="600"/>
              </a:spcAft>
            </a:pPr>
            <a:endParaRPr sz="16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5DDF5D"/>
                </a:solidFill>
              </a:rPr>
              <a:t>LoRA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8D8F0"/>
                </a:solidFill>
              </a:rPr>
              <a:t>  모델 전체가 아닌 작은 보정 행렬만 학습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C8D8F0"/>
                </a:solidFill>
              </a:rPr>
              <a:t>  48GB VRAM으로 충분히 가능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E8F0"/>
                </a:solidFill>
              </a:rPr>
              <a:t>파인튜닝 — Knowledge Distillation + LoRA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94944"/>
            <a:ext cx="10972800" cy="152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996696"/>
            <a:ext cx="5367528" cy="5029200"/>
          </a:xfrm>
          <a:prstGeom prst="rect">
            <a:avLst/>
          </a:prstGeom>
          <a:solidFill>
            <a:srgbClr val="1A140A"/>
          </a:solidFill>
          <a:ln w="12700">
            <a:solidFill>
              <a:srgbClr val="5A3A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152144"/>
            <a:ext cx="4910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AA40"/>
                </a:solidFill>
              </a:rPr>
              <a:t>Knowledge Distillation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09344"/>
            <a:ext cx="4910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80A0"/>
                </a:solidFill>
              </a:rPr>
              <a:t>지식 증류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938528"/>
            <a:ext cx="4910328" cy="12700"/>
          </a:xfrm>
          <a:prstGeom prst="rect">
            <a:avLst/>
          </a:prstGeom>
          <a:solidFill>
            <a:srgbClr val="FFA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93976"/>
            <a:ext cx="491032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큰 모델(Teacher)의 지식을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작은 모델(Student)에 이식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AA40"/>
                </a:solidFill>
              </a:rPr>
              <a:t>Teacher  :  Qwen3-14B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Student  :  Qwen3-8B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단순 정답이 아니라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&lt;think&gt; 추론 과정까지 학습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→  Reasoning Distillation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DeepSeek-R1, Qwen3 distill도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이 방식으로 만들어진 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996696"/>
            <a:ext cx="5367528" cy="5029200"/>
          </a:xfrm>
          <a:prstGeom prst="rect">
            <a:avLst/>
          </a:prstGeom>
          <a:solidFill>
            <a:srgbClr val="111E11"/>
          </a:solidFill>
          <a:ln w="12700">
            <a:solidFill>
              <a:srgbClr val="2A5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152144"/>
            <a:ext cx="4910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5DDF5D"/>
                </a:solidFill>
              </a:rPr>
              <a:t>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1609344"/>
            <a:ext cx="49103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80A0"/>
                </a:solidFill>
              </a:rPr>
              <a:t>Low-Rank Adaptation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3952" y="1938528"/>
            <a:ext cx="4910328" cy="12700"/>
          </a:xfrm>
          <a:prstGeom prst="rect">
            <a:avLst/>
          </a:prstGeom>
          <a:solidFill>
            <a:srgbClr val="5DD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093976"/>
            <a:ext cx="491032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모델 전체를 학습하는 대신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내부 행렬 옆에 작은 보정 행렬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두 개(A, B)만 추가해서 학습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FFD050"/>
                </a:solidFill>
              </a:rPr>
              <a:t>W'  =  W₀  +  B · A</a:t>
            </a:r>
          </a:p>
          <a:p>
            <a:pPr>
              <a:spcAft>
                <a:spcPts val="600"/>
              </a:spcAft>
            </a:pPr>
            <a:endParaRPr sz="1500" b="1">
              <a:solidFill>
                <a:srgbClr val="FFD050"/>
              </a:solidFill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W₀는 고정  →  A, B만 업데이트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전체 파라미터의 0.3%만 학습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FF7070"/>
                </a:solidFill>
              </a:rPr>
              <a:t>Full FT  :  ~112GB VRAM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DDF5D"/>
                </a:solidFill>
              </a:rPr>
              <a:t>LoRA     :  ~28GB VRAM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5DDF5D"/>
              </a:solidFill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48GB 서버에서 가능한 이유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E8F0"/>
                </a:solidFill>
              </a:rPr>
              <a:t>어떻게 할 건지 — 전체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94944"/>
            <a:ext cx="10972800" cy="152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1709928" cy="1188720"/>
          </a:xfrm>
          <a:prstGeom prst="rect">
            <a:avLst/>
          </a:prstGeom>
          <a:solidFill>
            <a:srgbClr val="1A1A3A"/>
          </a:solidFill>
          <a:ln w="25400">
            <a:solidFill>
              <a:srgbClr val="7E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33856"/>
            <a:ext cx="1709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EB8FF"/>
                </a:solidFill>
              </a:rPr>
              <a:t>Wikipedia
한국어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55648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080A0"/>
                </a:solidFill>
              </a:rPr>
              <a:t>지문 소스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50008" y="1243584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024128"/>
            <a:ext cx="1709928" cy="1188720"/>
          </a:xfrm>
          <a:prstGeom prst="rect">
            <a:avLst/>
          </a:prstGeom>
          <a:solidFill>
            <a:srgbClr val="2A1808"/>
          </a:solidFill>
          <a:ln w="25400">
            <a:solidFill>
              <a:srgbClr val="FFA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06040" y="1133856"/>
            <a:ext cx="1709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AA40"/>
                </a:solidFill>
              </a:rPr>
              <a:t>Teacher
Qwen3-14B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755648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080A0"/>
                </a:solidFill>
              </a:rPr>
              <a:t>CoT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1243584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24128"/>
            <a:ext cx="1709928" cy="1188720"/>
          </a:xfrm>
          <a:prstGeom prst="rect">
            <a:avLst/>
          </a:prstGeom>
          <a:solidFill>
            <a:srgbClr val="111E11"/>
          </a:solidFill>
          <a:ln w="25400">
            <a:solidFill>
              <a:srgbClr val="5DD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1133856"/>
            <a:ext cx="1709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DDF5D"/>
                </a:solidFill>
              </a:rPr>
              <a:t>데이터셋
병합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55648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080A0"/>
                </a:solidFill>
              </a:rPr>
              <a:t>~70,000개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1243584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1024128"/>
            <a:ext cx="1709928" cy="1188720"/>
          </a:xfrm>
          <a:prstGeom prst="rect">
            <a:avLst/>
          </a:prstGeom>
          <a:solidFill>
            <a:srgbClr val="1A112A"/>
          </a:solidFill>
          <a:ln w="254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1133856"/>
            <a:ext cx="1709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D2A8FF"/>
                </a:solidFill>
              </a:rPr>
              <a:t>Student
Qwen3-8B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755648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080A0"/>
                </a:solidFill>
              </a:rPr>
              <a:t>LoRA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1243584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1024128"/>
            <a:ext cx="1709928" cy="1188720"/>
          </a:xfrm>
          <a:prstGeom prst="rect">
            <a:avLst/>
          </a:prstGeom>
          <a:solidFill>
            <a:srgbClr val="0F1E1E"/>
          </a:solidFill>
          <a:ln w="25400">
            <a:solidFill>
              <a:srgbClr val="4AD4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1133856"/>
            <a:ext cx="1709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AD4C0"/>
                </a:solidFill>
              </a:rPr>
              <a:t>GGUF
변환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1755648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080A0"/>
                </a:solidFill>
              </a:rPr>
              <a:t>양자화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13848" y="1243584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69880" y="1024128"/>
            <a:ext cx="1709928" cy="1188720"/>
          </a:xfrm>
          <a:prstGeom prst="rect">
            <a:avLst/>
          </a:prstGeom>
          <a:solidFill>
            <a:srgbClr val="1E1E08"/>
          </a:solidFill>
          <a:ln w="25400">
            <a:solidFill>
              <a:srgbClr val="FF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69880" y="1133856"/>
            <a:ext cx="1709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D050"/>
                </a:solidFill>
              </a:rPr>
              <a:t>Ollama
서빙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69880" y="1755648"/>
            <a:ext cx="1709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080A0"/>
                </a:solidFill>
              </a:rPr>
              <a:t>로컬 배포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395728"/>
            <a:ext cx="3593592" cy="4041648"/>
          </a:xfrm>
          <a:prstGeom prst="rect">
            <a:avLst/>
          </a:prstGeom>
          <a:solidFill>
            <a:srgbClr val="1A1E30"/>
          </a:solidFill>
          <a:ln w="19050">
            <a:solidFill>
              <a:srgbClr val="FFA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2532888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AA40"/>
                </a:solidFill>
              </a:rPr>
              <a:t>데이터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2962656"/>
            <a:ext cx="3227832" cy="12700"/>
          </a:xfrm>
          <a:prstGeom prst="rect">
            <a:avLst/>
          </a:prstGeom>
          <a:solidFill>
            <a:srgbClr val="FFA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099816"/>
            <a:ext cx="3227832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Wikipedia CoT   5,000개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KorQuAD 1.0    10,000개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KLUE / MRC     10,000개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sae4K          10,000개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OpenThoughts   30,000개</a:t>
            </a:r>
          </a:p>
          <a:p>
            <a:pPr>
              <a:spcAft>
                <a:spcPts val="600"/>
              </a:spcAft>
            </a:pPr>
            <a:endParaRPr sz="14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AA40"/>
                </a:solidFill>
              </a:rPr>
              <a:t>합계  ~65,000개</a:t>
            </a:r>
          </a:p>
          <a:p>
            <a:pPr>
              <a:spcAft>
                <a:spcPts val="600"/>
              </a:spcAft>
            </a:pPr>
            <a:endParaRPr sz="1400" b="1">
              <a:solidFill>
                <a:srgbClr val="FFAA40"/>
              </a:solidFill>
            </a:endParaRP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소요 시간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7080A0"/>
                </a:solidFill>
              </a:rPr>
              <a:t>~13시간 (현재 진행 중)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395728"/>
            <a:ext cx="3593592" cy="4041648"/>
          </a:xfrm>
          <a:prstGeom prst="rect">
            <a:avLst/>
          </a:prstGeom>
          <a:solidFill>
            <a:srgbClr val="1A1E30"/>
          </a:solidFill>
          <a:ln w="19050">
            <a:solidFill>
              <a:srgbClr val="5DD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0" y="2532888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5DDF5D"/>
                </a:solidFill>
              </a:rPr>
              <a:t>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0" y="2962656"/>
            <a:ext cx="3227832" cy="12700"/>
          </a:xfrm>
          <a:prstGeom prst="rect">
            <a:avLst/>
          </a:prstGeom>
          <a:solidFill>
            <a:srgbClr val="5DDF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0" y="3099816"/>
            <a:ext cx="3227832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Qwen3-8B  LoRA r=32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fp16  ·  에폭 2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Kubeflow L40S 48GB</a:t>
            </a:r>
          </a:p>
          <a:p>
            <a:pPr>
              <a:spcAft>
                <a:spcPts val="600"/>
              </a:spcAft>
            </a:pPr>
            <a:endParaRPr sz="14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Teacher &lt;think&gt; 추론 과정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포함 학습</a:t>
            </a:r>
          </a:p>
          <a:p>
            <a:pPr>
              <a:spcAft>
                <a:spcPts val="600"/>
              </a:spcAft>
            </a:pPr>
            <a:endParaRPr sz="14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소요 시간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5DDF5D"/>
                </a:solidFill>
              </a:rPr>
              <a:t>~2~3시간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2395728"/>
            <a:ext cx="3593592" cy="4041648"/>
          </a:xfrm>
          <a:prstGeom prst="rect">
            <a:avLst/>
          </a:prstGeom>
          <a:solidFill>
            <a:srgbClr val="1A1E30"/>
          </a:solidFill>
          <a:ln w="19050">
            <a:solidFill>
              <a:srgbClr val="4AD4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21040" y="2532888"/>
            <a:ext cx="32278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4AD4C0"/>
                </a:solidFill>
              </a:rPr>
              <a:t>배포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21040" y="2962656"/>
            <a:ext cx="3227832" cy="12700"/>
          </a:xfrm>
          <a:prstGeom prst="rect">
            <a:avLst/>
          </a:prstGeom>
          <a:solidFill>
            <a:srgbClr val="4AD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3099816"/>
            <a:ext cx="3227832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GGUF 변환  (q4_k_m)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Ollama 등록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Tailscale VPN 연결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AI Tutor 모델명 교체</a:t>
            </a:r>
          </a:p>
          <a:p>
            <a:pPr>
              <a:spcAft>
                <a:spcPts val="600"/>
              </a:spcAft>
            </a:pPr>
            <a:endParaRPr sz="14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C8D8F0"/>
                </a:solidFill>
              </a:rPr>
              <a:t>소요 시간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4AD4C0"/>
                </a:solidFill>
              </a:rPr>
              <a:t>~30분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E8F0"/>
                </a:solidFill>
              </a:rPr>
              <a:t>지금 하고 있는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94944"/>
            <a:ext cx="10972800" cy="152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042416"/>
            <a:ext cx="10972800" cy="5029200"/>
          </a:xfrm>
          <a:prstGeom prst="rect">
            <a:avLst/>
          </a:prstGeom>
          <a:solidFill>
            <a:srgbClr val="1A1E30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316736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DDF5D"/>
                </a:solidFill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71016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DDF5D"/>
                </a:solidFill>
              </a:rPr>
              <a:t>Wikipedia CoT 데이터 생성 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91056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Kubeflow L40S 48GB  ·  목표 5,000개  ·  현재 ~50% 완료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624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5DDF5D"/>
                </a:solidFill>
              </a:rPr>
              <a:t>소요: ~13시간  (진행 중)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9424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AA40"/>
                </a:solidFill>
              </a:rPr>
              <a:t>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03704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AA40"/>
                </a:solidFill>
              </a:rPr>
              <a:t>데이터셋 병합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523744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KorQuAD + KLUE/MRC + OpenThoughts + sae4K  →  ~65,000개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29514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AA40"/>
                </a:solidFill>
              </a:rPr>
              <a:t>소요: ~30분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182112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36392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080A0"/>
                </a:solidFill>
              </a:rPr>
              <a:t>Student 모델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5643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Qwen3-8B  LoRA r=32  ·  fp16  ·  에폭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2278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7080A0"/>
                </a:solidFill>
              </a:rPr>
              <a:t>소요: ~2~3시간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690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080A0"/>
                </a:solidFill>
              </a:rPr>
              <a:t>평가  (LLM-as-a-Judge)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891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 err="1">
                <a:solidFill>
                  <a:srgbClr val="7080A0"/>
                </a:solidFill>
              </a:rPr>
              <a:t>Teacher가</a:t>
            </a:r>
            <a:r>
              <a:rPr sz="1200" b="0" dirty="0">
                <a:solidFill>
                  <a:srgbClr val="7080A0"/>
                </a:solidFill>
              </a:rPr>
              <a:t> Student </a:t>
            </a:r>
            <a:r>
              <a:rPr sz="1200" b="0" dirty="0" err="1">
                <a:solidFill>
                  <a:srgbClr val="7080A0"/>
                </a:solidFill>
              </a:rPr>
              <a:t>답변</a:t>
            </a:r>
            <a:r>
              <a:rPr sz="1200" b="0" dirty="0">
                <a:solidFill>
                  <a:srgbClr val="7080A0"/>
                </a:solidFill>
              </a:rPr>
              <a:t> </a:t>
            </a:r>
            <a:r>
              <a:rPr sz="1200" b="0" dirty="0" err="1">
                <a:solidFill>
                  <a:srgbClr val="7080A0"/>
                </a:solidFill>
              </a:rPr>
              <a:t>검증</a:t>
            </a:r>
            <a:r>
              <a:rPr sz="1200" b="0" dirty="0">
                <a:solidFill>
                  <a:srgbClr val="7080A0"/>
                </a:solidFill>
              </a:rPr>
              <a:t>  ·  </a:t>
            </a:r>
            <a:r>
              <a:rPr sz="1200" b="0" dirty="0" err="1">
                <a:solidFill>
                  <a:srgbClr val="7080A0"/>
                </a:solidFill>
              </a:rPr>
              <a:t>샘플</a:t>
            </a:r>
            <a:r>
              <a:rPr sz="1200" b="0" dirty="0">
                <a:solidFill>
                  <a:srgbClr val="7080A0"/>
                </a:solidFill>
              </a:rPr>
              <a:t> 200개 </a:t>
            </a:r>
            <a:r>
              <a:rPr sz="1200" b="0" dirty="0" err="1">
                <a:solidFill>
                  <a:srgbClr val="7080A0"/>
                </a:solidFill>
              </a:rPr>
              <a:t>기준</a:t>
            </a:r>
            <a:endParaRPr sz="1200" b="0" dirty="0">
              <a:solidFill>
                <a:srgbClr val="7080A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326880" y="4160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7080A0"/>
                </a:solidFill>
              </a:rPr>
              <a:t>소요: ~3~4시간  (결과 따라 재학습 시 +2~3시간)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47488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7080A0"/>
                </a:solidFill>
              </a:rPr>
              <a:t>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001768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080A0"/>
                </a:solidFill>
              </a:rPr>
              <a:t>GGUF 변환 + 배포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32180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llama.cpp 변환  →  Ollama 등록  →  AI Tutor 연결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09320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7080A0"/>
                </a:solidFill>
              </a:rPr>
              <a:t>소요: ~30분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8E8F0"/>
                </a:solidFill>
              </a:rPr>
              <a:t>평가를 어떻게 할 것인가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080A0"/>
                </a:solidFill>
              </a:rPr>
              <a:t>고민 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987552"/>
            <a:ext cx="10972800" cy="1524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1307592"/>
            <a:ext cx="6858000" cy="5029200"/>
          </a:xfrm>
          <a:prstGeom prst="rect">
            <a:avLst/>
          </a:prstGeom>
          <a:solidFill>
            <a:srgbClr val="0F1A30"/>
          </a:solidFill>
          <a:ln w="25400">
            <a:solidFill>
              <a:srgbClr val="3A7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EB8FF"/>
                </a:solidFill>
              </a:rPr>
              <a:t>LLM-as-a-Judge  (메인)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920240"/>
            <a:ext cx="6400800" cy="12700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75688"/>
            <a:ext cx="6400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Teacher(Qwen3-14B)가 채점관이 되어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Student(Qwen3-8B)의 답변을 직접 평가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7EB8FF"/>
                </a:solidFill>
              </a:rPr>
              <a:t>평가 기준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•  지문 근거했는가  (Faithfulness)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•  추론 과정이 올바른가  (CoT 품질)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•  Teacher 답변과 얼마나 유사한가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C8D8F0"/>
              </a:solidFill>
            </a:endParaRP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7EB8FF"/>
                </a:solidFill>
              </a:rPr>
              <a:t>선택 이유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•  도메인에 맞는 평가 가능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•  숫자 지표보다 직관적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•  DeepSeek, Qwen 계열 평가에서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C8D8F0"/>
                </a:solidFill>
              </a:rPr>
              <a:t>     실제로 많이 쓰이는 방식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08392" y="1307592"/>
            <a:ext cx="3931920" cy="5029200"/>
          </a:xfrm>
          <a:prstGeom prst="rect">
            <a:avLst/>
          </a:prstGeom>
          <a:solidFill>
            <a:srgbClr val="1A1E30"/>
          </a:solidFill>
          <a:ln w="12700">
            <a:solidFill>
              <a:srgbClr val="2A3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36992" y="14630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080A0"/>
                </a:solidFill>
              </a:rPr>
              <a:t>보조 지표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1892808"/>
            <a:ext cx="3474720" cy="12700"/>
          </a:xfrm>
          <a:prstGeom prst="rect">
            <a:avLst/>
          </a:prstGeom>
          <a:solidFill>
            <a:srgbClr val="2A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36992" y="21031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0"/>
                </a:solidFill>
              </a:rPr>
              <a:t>ROUGE-L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4505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텍스트 겹침 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21488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DDF5D"/>
                </a:solidFill>
              </a:rPr>
              <a:t>≥ 0.35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309067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0"/>
                </a:solidFill>
              </a:rPr>
              <a:t>BERTScore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343814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의미적 유사도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1363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DDF5D"/>
                </a:solidFill>
              </a:rPr>
              <a:t>≥ 0.80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6992" y="407822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0"/>
                </a:solidFill>
              </a:rPr>
              <a:t>Faithfulness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442569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지문 충실도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41239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DDF5D"/>
                </a:solidFill>
              </a:rPr>
              <a:t>≥ 0.70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506577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E8F0"/>
                </a:solidFill>
              </a:rPr>
              <a:t>Hallucination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54132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80A0"/>
                </a:solidFill>
              </a:rPr>
              <a:t>사실 날조 비율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51114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DDF5D"/>
                </a:solidFill>
              </a:rPr>
              <a:t>≤ 0.10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3A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411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7EB8FF"/>
                </a:solidFill>
              </a:rPr>
              <a:t>지금까지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1051560"/>
            <a:ext cx="5029200" cy="685800"/>
          </a:xfrm>
          <a:prstGeom prst="rect">
            <a:avLst/>
          </a:prstGeom>
          <a:solidFill>
            <a:srgbClr val="1A1E30"/>
          </a:solidFill>
          <a:ln w="19050">
            <a:solidFill>
              <a:srgbClr val="7E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11430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EB8FF"/>
                </a:solidFill>
              </a:rPr>
              <a:t>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C8D8F0"/>
                </a:solidFill>
              </a:rPr>
              <a:t>48GB VRAM 서버  +  AI Tutor 할루시네이션 문제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1920240"/>
            <a:ext cx="5029200" cy="685800"/>
          </a:xfrm>
          <a:prstGeom prst="rect">
            <a:avLst/>
          </a:prstGeom>
          <a:solidFill>
            <a:srgbClr val="1A1E30"/>
          </a:solidFill>
          <a:ln w="19050">
            <a:solidFill>
              <a:srgbClr val="FFA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AA40"/>
                </a:solidFill>
              </a:rPr>
              <a:t>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5740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C8D8F0"/>
                </a:solidFill>
              </a:rPr>
              <a:t>Knowledge Distillation  +  LoRA 파인튜닝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2788920"/>
            <a:ext cx="5029200" cy="685800"/>
          </a:xfrm>
          <a:prstGeom prst="rect">
            <a:avLst/>
          </a:prstGeom>
          <a:solidFill>
            <a:srgbClr val="1A1E30"/>
          </a:solidFill>
          <a:ln w="19050">
            <a:solidFill>
              <a:srgbClr val="5DDF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28803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DDF5D"/>
                </a:solidFill>
              </a:rPr>
              <a:t>진행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9260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C8D8F0"/>
                </a:solidFill>
              </a:rPr>
              <a:t>Teacher(14B) → CoT 데이터 생성 중  (현재 ~50%)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051560"/>
            <a:ext cx="5029200" cy="685800"/>
          </a:xfrm>
          <a:prstGeom prst="rect">
            <a:avLst/>
          </a:prstGeom>
          <a:solidFill>
            <a:srgbClr val="1A1E30"/>
          </a:solidFill>
          <a:ln w="19050">
            <a:solidFill>
              <a:srgbClr val="4AD4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114300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AD4C0"/>
                </a:solidFill>
              </a:rPr>
              <a:t>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118872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C8D8F0"/>
                </a:solidFill>
              </a:rPr>
              <a:t>Wikipedia + KorQuAD + KLUE + sae4K  ~65,000개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920240"/>
            <a:ext cx="5029200" cy="685800"/>
          </a:xfrm>
          <a:prstGeom prst="rect">
            <a:avLst/>
          </a:prstGeom>
          <a:solidFill>
            <a:srgbClr val="1A1E30"/>
          </a:solidFill>
          <a:ln w="1905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201168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2A8FF"/>
                </a:solidFill>
              </a:rPr>
              <a:t>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205740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C8D8F0"/>
                </a:solidFill>
              </a:rPr>
              <a:t>LLM-as-a-Judge  —  Teacher가 Student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788920"/>
            <a:ext cx="5029200" cy="685800"/>
          </a:xfrm>
          <a:prstGeom prst="rect">
            <a:avLst/>
          </a:prstGeom>
          <a:solidFill>
            <a:srgbClr val="1A1E30"/>
          </a:solidFill>
          <a:ln w="19050">
            <a:solidFill>
              <a:srgbClr val="FF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288036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050"/>
                </a:solidFill>
              </a:rPr>
              <a:t>목표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926080"/>
            <a:ext cx="3474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C8D8F0"/>
                </a:solidFill>
              </a:rPr>
              <a:t>작은 모델로 로컬에서 큰 모델 수준 내기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1605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7EB8FF"/>
                </a:solidFill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604</Words>
  <Application>Microsoft Office PowerPoint</Application>
  <PresentationFormat>사용자 지정</PresentationFormat>
  <Paragraphs>159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InJun Jang</cp:lastModifiedBy>
  <cp:revision>1</cp:revision>
  <dcterms:created xsi:type="dcterms:W3CDTF">2013-01-27T09:14:16Z</dcterms:created>
  <dcterms:modified xsi:type="dcterms:W3CDTF">2026-06-11T23:12:02Z</dcterms:modified>
  <cp:category/>
</cp:coreProperties>
</file>